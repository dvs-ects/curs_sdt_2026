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4" r:id="rId4"/>
    <p:sldId id="283" r:id="rId5"/>
    <p:sldId id="25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D39EEC3-A4EA-30D3-0A2E-0FA667508073}">
          <p14:sldIdLst>
            <p14:sldId id="256"/>
          </p14:sldIdLst>
        </p14:section>
        <p14:section name="El ejercicio" id="{EF8CA906-A37E-7091-C407-86E530606431}">
          <p14:sldIdLst>
            <p14:sldId id="257"/>
          </p14:sldIdLst>
        </p14:section>
        <p14:section name="Participantes" id="{AD8FC66A-1ADA-0CB3-A8E4-571566D0C4A5}">
          <p14:sldIdLst>
            <p14:sldId id="284"/>
            <p14:sldId id="283"/>
          </p14:sldIdLst>
        </p14:section>
        <p14:section name="Gráficas" id="{E8CB9AD1-AD2F-B790-1796-5BBF90548BD9}">
          <p14:sldIdLst>
            <p14:sldId id="259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5"/>
          </p14:sldIdLst>
        </p14:section>
        <p14:section name="Final" id="{011FFE90-2649-7CE6-DEB3-84DB2817F3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BFF"/>
    <a:srgbClr val="FF6FB8"/>
    <a:srgbClr val="D58CFF"/>
    <a:srgbClr val="7171BB"/>
    <a:srgbClr val="4D4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60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Presentamos la galería con las gráficas de los 12 alumnos para el concurso de la gráfica más bonita.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qué se simuló, cómo se estimó y qué miden PMSE y PMPE.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A8C3-F7CB-6907-BC01-971AA91A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6B17A-84A7-7AC2-6600-E1076DA93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D6A0D-0778-53D3-5FBA-842195058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Sustituye cada 'Nombre del alumno' por el nombre real. Los alumnos siguen el mismo orden que las diapositivas siguientes.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070A7-C891-FB21-70F0-87B075156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2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65932-2810-842F-C946-8E0FBDDB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5D9FF-5AED-C53E-ED95-70C8FA701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65785-5E25-7D4D-B6F1-8FCFF9F90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Sustituye cada 'Nombre del alumno' por el nombre real. Los alumnos siguen el mismo orden que las diapositivas siguientes.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C2543-085F-FE3E-ADA3-71D189847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77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DC2A-28C8-7F79-EDD2-62277B20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108FE-041F-2782-C97E-1224B6D45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B2405-CF0B-F86F-654A-ACFFF87C5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03094-827F-4F91-7806-B282A613C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37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3529B-7824-33B8-8CCA-5175C2AD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676FF-3865-43E2-2FD5-962A18DD0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C6840-1E4B-8A3D-B061-E23F11DD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10D3A-9B82-CCD6-15A2-8522760CA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44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BD81-0960-A0C9-AED0-0EE03EAD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A7FCE-25E1-D590-A3FA-5D32AB83D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F4B12-AD58-6653-3AED-FF78BA45E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00855-6E72-CC10-0D18-FA8616FE4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94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B9F8-2C2D-89A7-F32E-F448075C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9512E-926E-4D4E-8CEC-DBF2DF25D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8D80B-FF5C-C1F5-61C1-1449006C7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054C3-B50E-BFD7-47F0-86EB19807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59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E8EC-0E96-534C-405A-3962FB1C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E8B75-A559-8D15-9C94-8020C82D0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7298C-FB21-D422-2515-8040CC4DF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698B0-DD47-A804-C26D-899DCB850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54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1959-7E70-B43B-0ECA-284D4CE1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7D216-3244-AE44-A9E3-15687BD57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CD8DC-9E2B-3D40-7CE6-7A54E084E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43718-DDD9-E8B7-E355-B80C83BD7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34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EB114-7280-7A8D-D3A0-C85C8AE9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C490C-109F-154D-5DCB-69F07C123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3B663-5FBC-068E-CA1E-77FF0A41C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0883D-C533-9ADB-75FE-C9940E7A09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63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47E8-98D5-296B-7D67-C79D76B3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78F15-2510-0470-E1A7-83AA80EFF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D3774-E1C0-23AA-DD03-BAC2BD260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E3D27-314A-148E-D2E3-2162C2FE7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39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54FB-F83B-7171-DFC9-C01ED431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6BEED-8AEB-BF08-6713-AC3F25553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72693-2346-83E9-327C-D899C8E42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Alumno 01: inserta la gráfica en el recuadro y completa PMSE, PMPE y cobertura del intervalo.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5EAF4-BA92-97B1-163C-BBCA00F2A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0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Econometría de Series de Tiempo  ·  Concurso de la gráfica más bonita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711575" y="1531366"/>
            <a:ext cx="479425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chemeClr val="accent3"/>
                </a:solidFill>
              </a:rPr>
              <a:t>SERIES DE TIEMPO</a:t>
            </a:r>
            <a:endParaRPr lang="en-US" sz="3600" spc="600" dirty="0"/>
          </a:p>
        </p:txBody>
      </p:sp>
      <p:sp>
        <p:nvSpPr>
          <p:cNvPr id="3" name="Título"/>
          <p:cNvSpPr txBox="1"/>
          <p:nvPr/>
        </p:nvSpPr>
        <p:spPr>
          <a:xfrm>
            <a:off x="1148080" y="2453640"/>
            <a:ext cx="10078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</a:t>
            </a: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dinámico</a:t>
            </a:r>
            <a:r>
              <a:rPr lang="en-US" sz="5000" dirty="0"/>
              <a:t> </a:t>
            </a: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MA(4)</a:t>
            </a:r>
            <a:endParaRPr lang="en-US" sz="5000" dirty="0"/>
          </a:p>
        </p:txBody>
      </p:sp>
      <p:sp>
        <p:nvSpPr>
          <p:cNvPr id="4" name="Subtítulo"/>
          <p:cNvSpPr txBox="1"/>
          <p:nvPr/>
        </p:nvSpPr>
        <p:spPr>
          <a:xfrm>
            <a:off x="3018790" y="3249676"/>
            <a:ext cx="61544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Galería del concurso: ¿cuál es la </a:t>
            </a:r>
            <a:r>
              <a:rPr lang="en-US" sz="2200" dirty="0" err="1">
                <a:solidFill>
                  <a:schemeClr val="bg2"/>
                </a:solidFill>
              </a:rPr>
              <a:t>gráfica</a:t>
            </a:r>
            <a:r>
              <a:rPr lang="en-US" sz="2200" dirty="0">
                <a:solidFill>
                  <a:schemeClr val="bg2"/>
                </a:solidFill>
              </a:rPr>
              <a:t> </a:t>
            </a:r>
            <a:r>
              <a:rPr lang="en-US" sz="2200" dirty="0" err="1">
                <a:solidFill>
                  <a:schemeClr val="bg2"/>
                </a:solidFill>
              </a:rPr>
              <a:t>más</a:t>
            </a:r>
            <a:r>
              <a:rPr lang="en-US" sz="2200" dirty="0">
                <a:solidFill>
                  <a:schemeClr val="bg2"/>
                </a:solidFill>
              </a:rPr>
              <a:t> </a:t>
            </a:r>
            <a:r>
              <a:rPr lang="en-US" sz="2200" dirty="0" err="1">
                <a:solidFill>
                  <a:schemeClr val="bg2"/>
                </a:solidFill>
              </a:rPr>
              <a:t>bonita</a:t>
            </a:r>
            <a:r>
              <a:rPr lang="en-US" sz="2200" dirty="0">
                <a:solidFill>
                  <a:schemeClr val="bg2"/>
                </a:solidFill>
              </a:rPr>
              <a:t>?</a:t>
            </a:r>
            <a:endParaRPr lang="en-US" sz="2200" dirty="0"/>
          </a:p>
        </p:txBody>
      </p:sp>
      <p:sp>
        <p:nvSpPr>
          <p:cNvPr id="5" name="Chip 1"/>
          <p:cNvSpPr/>
          <p:nvPr/>
        </p:nvSpPr>
        <p:spPr>
          <a:xfrm>
            <a:off x="3771900" y="4539488"/>
            <a:ext cx="1554480" cy="475488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ip texto 1"/>
          <p:cNvSpPr txBox="1"/>
          <p:nvPr/>
        </p:nvSpPr>
        <p:spPr>
          <a:xfrm>
            <a:off x="3771900" y="45394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12 alumnos</a:t>
            </a:r>
            <a:endParaRPr lang="en-US" sz="1400" dirty="0"/>
          </a:p>
        </p:txBody>
      </p:sp>
      <p:sp>
        <p:nvSpPr>
          <p:cNvPr id="7" name="Chip 2"/>
          <p:cNvSpPr/>
          <p:nvPr/>
        </p:nvSpPr>
        <p:spPr>
          <a:xfrm>
            <a:off x="5509260" y="4539488"/>
            <a:ext cx="1554480" cy="475488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hip texto 2"/>
          <p:cNvSpPr txBox="1"/>
          <p:nvPr/>
        </p:nvSpPr>
        <p:spPr>
          <a:xfrm>
            <a:off x="5509260" y="45394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  ·  Gretl</a:t>
            </a:r>
            <a:endParaRPr lang="en-US" sz="1400" dirty="0"/>
          </a:p>
        </p:txBody>
      </p:sp>
      <p:sp>
        <p:nvSpPr>
          <p:cNvPr id="9" name="Chip 3"/>
          <p:cNvSpPr/>
          <p:nvPr/>
        </p:nvSpPr>
        <p:spPr>
          <a:xfrm>
            <a:off x="7246620" y="4539488"/>
            <a:ext cx="1828800" cy="475488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ip texto 3"/>
          <p:cNvSpPr txBox="1"/>
          <p:nvPr/>
        </p:nvSpPr>
        <p:spPr>
          <a:xfrm>
            <a:off x="7246620" y="45394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El ejercicio: un MA(4) simulado</a:t>
            </a:r>
            <a:endParaRPr lang="en-US" sz="3200" dirty="0"/>
          </a:p>
        </p:txBody>
      </p:sp>
      <p:sp>
        <p:nvSpPr>
          <p:cNvPr id="3" name="Tarjeta 1"/>
          <p:cNvSpPr/>
          <p:nvPr/>
        </p:nvSpPr>
        <p:spPr>
          <a:xfrm>
            <a:off x="548640" y="1600200"/>
            <a:ext cx="3520440" cy="3749040"/>
          </a:xfrm>
          <a:prstGeom prst="roundRect">
            <a:avLst>
              <a:gd name="adj" fmla="val 467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Círculo 1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Simulamos el proceso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MA(4) con media μ = 10 y θ = (0.5, 0, 0.8, −0.2). Muestra de n = 244 datos mensuales desde 1980.</a:t>
            </a:r>
            <a:endParaRPr lang="en-US" sz="1600" dirty="0"/>
          </a:p>
        </p:txBody>
      </p:sp>
      <p:sp>
        <p:nvSpPr>
          <p:cNvPr id="8" name="Tarjeta 2"/>
          <p:cNvSpPr/>
          <p:nvPr/>
        </p:nvSpPr>
        <p:spPr>
          <a:xfrm>
            <a:off x="4297680" y="1600200"/>
            <a:ext cx="3520440" cy="3749040"/>
          </a:xfrm>
          <a:prstGeom prst="roundRect">
            <a:avLst>
              <a:gd name="adj" fmla="val 467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írculo 2"/>
          <p:cNvSpPr/>
          <p:nvPr/>
        </p:nvSpPr>
        <p:spPr>
          <a:xfrm>
            <a:off x="4617720" y="19202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1772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Pronóstico dinámico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38328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Se estima con t = 1,…,232 y se pronostican 12 meses de forma dinámica (h = 1,…,12), con intervalos de confianza.</a:t>
            </a:r>
            <a:endParaRPr lang="en-US" sz="1600" dirty="0"/>
          </a:p>
        </p:txBody>
      </p:sp>
      <p:sp>
        <p:nvSpPr>
          <p:cNvPr id="13" name="Tarjeta 3"/>
          <p:cNvSpPr/>
          <p:nvPr/>
        </p:nvSpPr>
        <p:spPr>
          <a:xfrm>
            <a:off x="8046720" y="1600200"/>
            <a:ext cx="3520440" cy="3749040"/>
          </a:xfrm>
          <a:prstGeom prst="roundRect">
            <a:avLst>
              <a:gd name="adj" fmla="val 4675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Círculo 3"/>
          <p:cNvSpPr/>
          <p:nvPr/>
        </p:nvSpPr>
        <p:spPr>
          <a:xfrm>
            <a:off x="8366760" y="19202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667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Medimos el error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38328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PMSE: promedio de (real − pronóstico)².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PMPE: promedio de (real − pronóstico) / real, en %.</a:t>
            </a:r>
            <a:endParaRPr lang="en-US" sz="1600" dirty="0"/>
          </a:p>
        </p:txBody>
      </p:sp>
      <p:sp>
        <p:nvSpPr>
          <p:cNvPr id="18" name="Reto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El reto: </a:t>
            </a:r>
            <a:r>
              <a:rPr lang="en-US" sz="2000" dirty="0">
                <a:solidFill>
                  <a:schemeClr val="bg1"/>
                </a:solidFill>
              </a:rPr>
              <a:t>resumir todo esto en una sola gráfica… ¡y que sea la más bonita!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B033-17A1-705C-5013-08959D30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arjeta alumno 07">
            <a:extLst>
              <a:ext uri="{FF2B5EF4-FFF2-40B4-BE49-F238E27FC236}">
                <a16:creationId xmlns:a16="http://schemas.microsoft.com/office/drawing/2014/main" id="{37C022F1-4DCD-0E34-D133-CE0F1DA84DA0}"/>
              </a:ext>
            </a:extLst>
          </p:cNvPr>
          <p:cNvSpPr/>
          <p:nvPr/>
        </p:nvSpPr>
        <p:spPr>
          <a:xfrm>
            <a:off x="384048" y="385836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Círculo alumno 12">
            <a:extLst>
              <a:ext uri="{FF2B5EF4-FFF2-40B4-BE49-F238E27FC236}">
                <a16:creationId xmlns:a16="http://schemas.microsoft.com/office/drawing/2014/main" id="{D14D92A7-7781-A700-8EA5-824F8009F5AA}"/>
              </a:ext>
            </a:extLst>
          </p:cNvPr>
          <p:cNvSpPr/>
          <p:nvPr/>
        </p:nvSpPr>
        <p:spPr>
          <a:xfrm>
            <a:off x="482934" y="4534005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arjeta alumno 07">
            <a:extLst>
              <a:ext uri="{FF2B5EF4-FFF2-40B4-BE49-F238E27FC236}">
                <a16:creationId xmlns:a16="http://schemas.microsoft.com/office/drawing/2014/main" id="{E898CFFD-D2E2-2402-0985-75828BCBEBDD}"/>
              </a:ext>
            </a:extLst>
          </p:cNvPr>
          <p:cNvSpPr/>
          <p:nvPr/>
        </p:nvSpPr>
        <p:spPr>
          <a:xfrm>
            <a:off x="8333232" y="3920043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Tarjeta alumno 07">
            <a:extLst>
              <a:ext uri="{FF2B5EF4-FFF2-40B4-BE49-F238E27FC236}">
                <a16:creationId xmlns:a16="http://schemas.microsoft.com/office/drawing/2014/main" id="{5D11892B-ACF1-E4BB-042A-F102B5162358}"/>
              </a:ext>
            </a:extLst>
          </p:cNvPr>
          <p:cNvSpPr/>
          <p:nvPr/>
        </p:nvSpPr>
        <p:spPr>
          <a:xfrm>
            <a:off x="4358640" y="385836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arjeta alumno 07">
            <a:extLst>
              <a:ext uri="{FF2B5EF4-FFF2-40B4-BE49-F238E27FC236}">
                <a16:creationId xmlns:a16="http://schemas.microsoft.com/office/drawing/2014/main" id="{5FDE12BD-D308-A377-B86C-E3DF5ACA7988}"/>
              </a:ext>
            </a:extLst>
          </p:cNvPr>
          <p:cNvSpPr/>
          <p:nvPr/>
        </p:nvSpPr>
        <p:spPr>
          <a:xfrm>
            <a:off x="384048" y="139689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arjeta alumno 07">
            <a:extLst>
              <a:ext uri="{FF2B5EF4-FFF2-40B4-BE49-F238E27FC236}">
                <a16:creationId xmlns:a16="http://schemas.microsoft.com/office/drawing/2014/main" id="{2AA2B569-AE88-4429-CBA2-9329A726D58A}"/>
              </a:ext>
            </a:extLst>
          </p:cNvPr>
          <p:cNvSpPr/>
          <p:nvPr/>
        </p:nvSpPr>
        <p:spPr>
          <a:xfrm>
            <a:off x="8333232" y="130545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arjeta alumno 07">
            <a:extLst>
              <a:ext uri="{FF2B5EF4-FFF2-40B4-BE49-F238E27FC236}">
                <a16:creationId xmlns:a16="http://schemas.microsoft.com/office/drawing/2014/main" id="{29BE4DFD-0DC5-421B-0579-E6A6C5B95568}"/>
              </a:ext>
            </a:extLst>
          </p:cNvPr>
          <p:cNvSpPr/>
          <p:nvPr/>
        </p:nvSpPr>
        <p:spPr>
          <a:xfrm>
            <a:off x="4271264" y="1361440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2F97A99-2D7F-6C5E-B089-8C13C781DA46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err="1"/>
              <a:t>P</a:t>
            </a:r>
            <a:r>
              <a:rPr lang="en-US" sz="3200" b="1" dirty="0" err="1">
                <a:solidFill>
                  <a:schemeClr val="bg1"/>
                </a:solidFill>
              </a:rPr>
              <a:t>articipantes</a:t>
            </a:r>
            <a:endParaRPr lang="en-US" sz="3200" dirty="0"/>
          </a:p>
        </p:txBody>
      </p:sp>
      <p:sp>
        <p:nvSpPr>
          <p:cNvPr id="39" name="Círculo alumno 08">
            <a:extLst>
              <a:ext uri="{FF2B5EF4-FFF2-40B4-BE49-F238E27FC236}">
                <a16:creationId xmlns:a16="http://schemas.microsoft.com/office/drawing/2014/main" id="{19C04A6A-B8E2-18E7-0AC5-8987903E6456}"/>
              </a:ext>
            </a:extLst>
          </p:cNvPr>
          <p:cNvSpPr/>
          <p:nvPr/>
        </p:nvSpPr>
        <p:spPr>
          <a:xfrm>
            <a:off x="4446016" y="196339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Círculo alumno 09">
            <a:extLst>
              <a:ext uri="{FF2B5EF4-FFF2-40B4-BE49-F238E27FC236}">
                <a16:creationId xmlns:a16="http://schemas.microsoft.com/office/drawing/2014/main" id="{843152E7-6F9C-F9E9-FF67-A7E3775B646D}"/>
              </a:ext>
            </a:extLst>
          </p:cNvPr>
          <p:cNvSpPr/>
          <p:nvPr/>
        </p:nvSpPr>
        <p:spPr>
          <a:xfrm>
            <a:off x="8428736" y="2072535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08496CE8-53BB-377A-26ED-BD442652C7D0}"/>
              </a:ext>
            </a:extLst>
          </p:cNvPr>
          <p:cNvSpPr txBox="1"/>
          <p:nvPr/>
        </p:nvSpPr>
        <p:spPr>
          <a:xfrm>
            <a:off x="8428736" y="21036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9" name="Círculo alumno 10">
            <a:extLst>
              <a:ext uri="{FF2B5EF4-FFF2-40B4-BE49-F238E27FC236}">
                <a16:creationId xmlns:a16="http://schemas.microsoft.com/office/drawing/2014/main" id="{5AD0D044-AD98-9081-03B1-F842AF3B9E9C}"/>
              </a:ext>
            </a:extLst>
          </p:cNvPr>
          <p:cNvSpPr/>
          <p:nvPr/>
        </p:nvSpPr>
        <p:spPr>
          <a:xfrm>
            <a:off x="4446016" y="4529853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Círculo alumno 11">
            <a:extLst>
              <a:ext uri="{FF2B5EF4-FFF2-40B4-BE49-F238E27FC236}">
                <a16:creationId xmlns:a16="http://schemas.microsoft.com/office/drawing/2014/main" id="{36A6EA58-E5F4-6D7D-2DDC-08D8515BC429}"/>
              </a:ext>
            </a:extLst>
          </p:cNvPr>
          <p:cNvSpPr/>
          <p:nvPr/>
        </p:nvSpPr>
        <p:spPr>
          <a:xfrm>
            <a:off x="8428736" y="4534005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2468F34-5B50-FAFD-4FC3-9FA28E760C55}"/>
              </a:ext>
            </a:extLst>
          </p:cNvPr>
          <p:cNvSpPr txBox="1"/>
          <p:nvPr/>
        </p:nvSpPr>
        <p:spPr>
          <a:xfrm>
            <a:off x="482934" y="452985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dirty="0">
                <a:latin typeface="Cambria" pitchFamily="34" charset="0"/>
                <a:ea typeface="Cambria" pitchFamily="34" charset="-122"/>
              </a:rPr>
              <a:t>0</a:t>
            </a:r>
            <a:r>
              <a:rPr lang="en-US" sz="2000" b="1" dirty="0">
                <a:latin typeface="Cambria" pitchFamily="34" charset="0"/>
                <a:ea typeface="Cambria" pitchFamily="34" charset="-122"/>
              </a:rPr>
              <a:t>4</a:t>
            </a:r>
            <a:endParaRPr lang="en-US" sz="2000" dirty="0"/>
          </a:p>
        </p:txBody>
      </p:sp>
      <p:sp>
        <p:nvSpPr>
          <p:cNvPr id="63" name="Slide Number Placeholder 0">
            <a:extLst>
              <a:ext uri="{FF2B5EF4-FFF2-40B4-BE49-F238E27FC236}">
                <a16:creationId xmlns:a16="http://schemas.microsoft.com/office/drawing/2014/main" id="{CAEC281A-8742-436E-EB48-5E3804DB25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Text 38">
            <a:extLst>
              <a:ext uri="{FF2B5EF4-FFF2-40B4-BE49-F238E27FC236}">
                <a16:creationId xmlns:a16="http://schemas.microsoft.com/office/drawing/2014/main" id="{A8F5F90D-7D09-9B9C-65DB-7543009FDB05}"/>
              </a:ext>
            </a:extLst>
          </p:cNvPr>
          <p:cNvSpPr txBox="1"/>
          <p:nvPr/>
        </p:nvSpPr>
        <p:spPr>
          <a:xfrm>
            <a:off x="4462272" y="4604795"/>
            <a:ext cx="640080" cy="4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Círculo alumno 01">
            <a:extLst>
              <a:ext uri="{FF2B5EF4-FFF2-40B4-BE49-F238E27FC236}">
                <a16:creationId xmlns:a16="http://schemas.microsoft.com/office/drawing/2014/main" id="{D492FBCE-A58D-8C55-0117-F773BA640AD0}"/>
              </a:ext>
            </a:extLst>
          </p:cNvPr>
          <p:cNvSpPr/>
          <p:nvPr/>
        </p:nvSpPr>
        <p:spPr>
          <a:xfrm>
            <a:off x="482934" y="196339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8">
            <a:extLst>
              <a:ext uri="{FF2B5EF4-FFF2-40B4-BE49-F238E27FC236}">
                <a16:creationId xmlns:a16="http://schemas.microsoft.com/office/drawing/2014/main" id="{60E4BA27-03FB-3DC1-A3F4-BA7F7D5024E4}"/>
              </a:ext>
            </a:extLst>
          </p:cNvPr>
          <p:cNvSpPr txBox="1"/>
          <p:nvPr/>
        </p:nvSpPr>
        <p:spPr>
          <a:xfrm>
            <a:off x="482934" y="192264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38">
            <a:extLst>
              <a:ext uri="{FF2B5EF4-FFF2-40B4-BE49-F238E27FC236}">
                <a16:creationId xmlns:a16="http://schemas.microsoft.com/office/drawing/2014/main" id="{6C2C6B45-E3A7-462C-C540-81C372D3DC23}"/>
              </a:ext>
            </a:extLst>
          </p:cNvPr>
          <p:cNvSpPr txBox="1"/>
          <p:nvPr/>
        </p:nvSpPr>
        <p:spPr>
          <a:xfrm>
            <a:off x="4446016" y="2038336"/>
            <a:ext cx="640080" cy="4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38">
            <a:extLst>
              <a:ext uri="{FF2B5EF4-FFF2-40B4-BE49-F238E27FC236}">
                <a16:creationId xmlns:a16="http://schemas.microsoft.com/office/drawing/2014/main" id="{67824F5B-C6C3-AD6E-895B-C430807725F3}"/>
              </a:ext>
            </a:extLst>
          </p:cNvPr>
          <p:cNvSpPr txBox="1"/>
          <p:nvPr/>
        </p:nvSpPr>
        <p:spPr>
          <a:xfrm>
            <a:off x="8428736" y="4597280"/>
            <a:ext cx="640080" cy="4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074BB82-BB22-93AF-4587-3EE4D8B0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364" y="1716062"/>
            <a:ext cx="2504039" cy="12739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1BFCFEA-BAE4-895F-CC28-8F7E4E344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766" y="1672339"/>
            <a:ext cx="2269124" cy="1511804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A534CA9-199B-11E9-7543-9C1F25BD1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166" y="4081355"/>
            <a:ext cx="2315129" cy="160278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64BF66A-C94B-1E5D-A34F-CE5C6F0C7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581" y="4256468"/>
            <a:ext cx="2389019" cy="12525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C16D281-5EB2-7E37-F06E-1BB41EBE8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5866" y="1716062"/>
            <a:ext cx="2100347" cy="13868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F001A00-8DC0-1042-ED25-B0FB94994B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821" y="4160803"/>
            <a:ext cx="2492069" cy="14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6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0A328-099F-EF8B-5B1F-8A9398C0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arjeta alumno 07">
            <a:extLst>
              <a:ext uri="{FF2B5EF4-FFF2-40B4-BE49-F238E27FC236}">
                <a16:creationId xmlns:a16="http://schemas.microsoft.com/office/drawing/2014/main" id="{81B1A6DE-4266-880A-9D0B-5824F8F72C0D}"/>
              </a:ext>
            </a:extLst>
          </p:cNvPr>
          <p:cNvSpPr/>
          <p:nvPr/>
        </p:nvSpPr>
        <p:spPr>
          <a:xfrm>
            <a:off x="8333232" y="3920043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Tarjeta alumno 07">
            <a:extLst>
              <a:ext uri="{FF2B5EF4-FFF2-40B4-BE49-F238E27FC236}">
                <a16:creationId xmlns:a16="http://schemas.microsoft.com/office/drawing/2014/main" id="{1B481DFB-CFDC-D856-6784-CD2F1762ADCA}"/>
              </a:ext>
            </a:extLst>
          </p:cNvPr>
          <p:cNvSpPr/>
          <p:nvPr/>
        </p:nvSpPr>
        <p:spPr>
          <a:xfrm>
            <a:off x="4358640" y="385836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Tarjeta alumno 07">
            <a:extLst>
              <a:ext uri="{FF2B5EF4-FFF2-40B4-BE49-F238E27FC236}">
                <a16:creationId xmlns:a16="http://schemas.microsoft.com/office/drawing/2014/main" id="{611D332D-540C-A477-BEC7-3915833CFBAF}"/>
              </a:ext>
            </a:extLst>
          </p:cNvPr>
          <p:cNvSpPr/>
          <p:nvPr/>
        </p:nvSpPr>
        <p:spPr>
          <a:xfrm>
            <a:off x="384048" y="385836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arjeta alumno 07">
            <a:extLst>
              <a:ext uri="{FF2B5EF4-FFF2-40B4-BE49-F238E27FC236}">
                <a16:creationId xmlns:a16="http://schemas.microsoft.com/office/drawing/2014/main" id="{B42C30D0-CE60-A83A-9F75-49B818840FF8}"/>
              </a:ext>
            </a:extLst>
          </p:cNvPr>
          <p:cNvSpPr/>
          <p:nvPr/>
        </p:nvSpPr>
        <p:spPr>
          <a:xfrm>
            <a:off x="384048" y="139689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arjeta alumno 07">
            <a:extLst>
              <a:ext uri="{FF2B5EF4-FFF2-40B4-BE49-F238E27FC236}">
                <a16:creationId xmlns:a16="http://schemas.microsoft.com/office/drawing/2014/main" id="{7FF4DFE3-3754-2C29-7AE8-994DE3E14645}"/>
              </a:ext>
            </a:extLst>
          </p:cNvPr>
          <p:cNvSpPr/>
          <p:nvPr/>
        </p:nvSpPr>
        <p:spPr>
          <a:xfrm>
            <a:off x="8333232" y="1305455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arjeta alumno 07">
            <a:extLst>
              <a:ext uri="{FF2B5EF4-FFF2-40B4-BE49-F238E27FC236}">
                <a16:creationId xmlns:a16="http://schemas.microsoft.com/office/drawing/2014/main" id="{A8261CC6-7FB1-56D9-5284-27A0509F5860}"/>
              </a:ext>
            </a:extLst>
          </p:cNvPr>
          <p:cNvSpPr/>
          <p:nvPr/>
        </p:nvSpPr>
        <p:spPr>
          <a:xfrm>
            <a:off x="4271264" y="1361440"/>
            <a:ext cx="3474720" cy="1991360"/>
          </a:xfrm>
          <a:prstGeom prst="roundRect">
            <a:avLst>
              <a:gd name="adj" fmla="val 1103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30132B5-5FDD-8407-6FAA-A383404177A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err="1"/>
              <a:t>P</a:t>
            </a:r>
            <a:r>
              <a:rPr lang="en-US" sz="3200" b="1" dirty="0" err="1">
                <a:solidFill>
                  <a:schemeClr val="bg1"/>
                </a:solidFill>
              </a:rPr>
              <a:t>articipantes</a:t>
            </a:r>
            <a:endParaRPr lang="en-US" sz="3200" dirty="0"/>
          </a:p>
        </p:txBody>
      </p:sp>
      <p:sp>
        <p:nvSpPr>
          <p:cNvPr id="34" name="Círculo alumno 07">
            <a:extLst>
              <a:ext uri="{FF2B5EF4-FFF2-40B4-BE49-F238E27FC236}">
                <a16:creationId xmlns:a16="http://schemas.microsoft.com/office/drawing/2014/main" id="{7E284E74-FFAF-9ABB-7976-F0B2516B2EDA}"/>
              </a:ext>
            </a:extLst>
          </p:cNvPr>
          <p:cNvSpPr/>
          <p:nvPr/>
        </p:nvSpPr>
        <p:spPr>
          <a:xfrm>
            <a:off x="482934" y="2037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Círculo alumno 08">
            <a:extLst>
              <a:ext uri="{FF2B5EF4-FFF2-40B4-BE49-F238E27FC236}">
                <a16:creationId xmlns:a16="http://schemas.microsoft.com/office/drawing/2014/main" id="{9F845E6C-D326-3A1C-539A-CE8248F1A218}"/>
              </a:ext>
            </a:extLst>
          </p:cNvPr>
          <p:cNvSpPr/>
          <p:nvPr/>
        </p:nvSpPr>
        <p:spPr>
          <a:xfrm>
            <a:off x="4446016" y="196339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Círculo alumno 09">
            <a:extLst>
              <a:ext uri="{FF2B5EF4-FFF2-40B4-BE49-F238E27FC236}">
                <a16:creationId xmlns:a16="http://schemas.microsoft.com/office/drawing/2014/main" id="{1551A705-3577-489C-A467-4B5D25E73417}"/>
              </a:ext>
            </a:extLst>
          </p:cNvPr>
          <p:cNvSpPr/>
          <p:nvPr/>
        </p:nvSpPr>
        <p:spPr>
          <a:xfrm>
            <a:off x="8428736" y="2072535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DD4575B-0333-28FC-5F9A-69F1F2AD7B71}"/>
              </a:ext>
            </a:extLst>
          </p:cNvPr>
          <p:cNvSpPr txBox="1"/>
          <p:nvPr/>
        </p:nvSpPr>
        <p:spPr>
          <a:xfrm>
            <a:off x="8428736" y="21036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9" name="Círculo alumno 10">
            <a:extLst>
              <a:ext uri="{FF2B5EF4-FFF2-40B4-BE49-F238E27FC236}">
                <a16:creationId xmlns:a16="http://schemas.microsoft.com/office/drawing/2014/main" id="{6936F908-6D68-1AED-F2DB-BCC7EF886546}"/>
              </a:ext>
            </a:extLst>
          </p:cNvPr>
          <p:cNvSpPr/>
          <p:nvPr/>
        </p:nvSpPr>
        <p:spPr>
          <a:xfrm>
            <a:off x="482934" y="4534005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060D897-5B00-452E-DD6C-C6434E6BC2F2}"/>
              </a:ext>
            </a:extLst>
          </p:cNvPr>
          <p:cNvSpPr txBox="1"/>
          <p:nvPr/>
        </p:nvSpPr>
        <p:spPr>
          <a:xfrm>
            <a:off x="482934" y="45340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54" name="Círculo alumno 11">
            <a:extLst>
              <a:ext uri="{FF2B5EF4-FFF2-40B4-BE49-F238E27FC236}">
                <a16:creationId xmlns:a16="http://schemas.microsoft.com/office/drawing/2014/main" id="{69F2F58D-70AC-981D-2DB2-08D9484B83F5}"/>
              </a:ext>
            </a:extLst>
          </p:cNvPr>
          <p:cNvSpPr/>
          <p:nvPr/>
        </p:nvSpPr>
        <p:spPr>
          <a:xfrm>
            <a:off x="4446016" y="4534005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5FA7618-E4DB-33D8-C381-23E6162D78A5}"/>
              </a:ext>
            </a:extLst>
          </p:cNvPr>
          <p:cNvSpPr txBox="1"/>
          <p:nvPr/>
        </p:nvSpPr>
        <p:spPr>
          <a:xfrm>
            <a:off x="4446016" y="45340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59" name="Círculo alumno 12">
            <a:extLst>
              <a:ext uri="{FF2B5EF4-FFF2-40B4-BE49-F238E27FC236}">
                <a16:creationId xmlns:a16="http://schemas.microsoft.com/office/drawing/2014/main" id="{AD55055D-11F0-6357-24B9-A2130D6C86FF}"/>
              </a:ext>
            </a:extLst>
          </p:cNvPr>
          <p:cNvSpPr/>
          <p:nvPr/>
        </p:nvSpPr>
        <p:spPr>
          <a:xfrm>
            <a:off x="8428736" y="4534005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ABD0387-9ED0-ADFC-C0DF-DAD05893B1E7}"/>
              </a:ext>
            </a:extLst>
          </p:cNvPr>
          <p:cNvSpPr txBox="1"/>
          <p:nvPr/>
        </p:nvSpPr>
        <p:spPr>
          <a:xfrm>
            <a:off x="8428736" y="45340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63" name="Slide Number Placeholder 0">
            <a:extLst>
              <a:ext uri="{FF2B5EF4-FFF2-40B4-BE49-F238E27FC236}">
                <a16:creationId xmlns:a16="http://schemas.microsoft.com/office/drawing/2014/main" id="{4316358A-C196-9C0A-7F88-6593A99CD4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2" name="Text 33">
            <a:extLst>
              <a:ext uri="{FF2B5EF4-FFF2-40B4-BE49-F238E27FC236}">
                <a16:creationId xmlns:a16="http://schemas.microsoft.com/office/drawing/2014/main" id="{65185BFB-EA35-6042-730D-2FB425CC212B}"/>
              </a:ext>
            </a:extLst>
          </p:cNvPr>
          <p:cNvSpPr txBox="1"/>
          <p:nvPr/>
        </p:nvSpPr>
        <p:spPr>
          <a:xfrm>
            <a:off x="597123" y="2103733"/>
            <a:ext cx="446817" cy="47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38">
            <a:extLst>
              <a:ext uri="{FF2B5EF4-FFF2-40B4-BE49-F238E27FC236}">
                <a16:creationId xmlns:a16="http://schemas.microsoft.com/office/drawing/2014/main" id="{37EE5FDD-701D-89CB-464D-6F4545073E1F}"/>
              </a:ext>
            </a:extLst>
          </p:cNvPr>
          <p:cNvSpPr txBox="1"/>
          <p:nvPr/>
        </p:nvSpPr>
        <p:spPr>
          <a:xfrm>
            <a:off x="4316253" y="1757172"/>
            <a:ext cx="899606" cy="99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41E61B-5197-2FE1-933F-39AD1197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8" y="1726345"/>
            <a:ext cx="2309894" cy="139464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41BB74-2BF8-5565-B7F6-D812A15AB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859" y="1863350"/>
            <a:ext cx="2329456" cy="9533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8C0B987-AF85-0E41-3616-FA5800436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44" y="1705881"/>
            <a:ext cx="2461680" cy="123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   </a:t>
            </a:r>
            <a:r>
              <a:rPr lang="en-US" sz="2400" dirty="0"/>
              <a:t>Carlos Raymundo Vargas Cortes</a:t>
            </a:r>
          </a:p>
        </p:txBody>
      </p:sp>
      <p:sp>
        <p:nvSpPr>
          <p:cNvPr id="3" name="Marco de la gráfica"/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E868373D-B698-340E-4318-08617C022B6C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8ED95CE-47CE-2B59-FD77-14AE0E670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" y="1000908"/>
            <a:ext cx="9705340" cy="5221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D44C-6419-7ABA-8AE8-BD66B598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AAB12E7-52B6-7D8F-9B88-E7F2ABB1D97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3"/>
                </a:solidFill>
              </a:rPr>
              <a:t>02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Valeria Servin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0AC0279E-875E-888B-6A2A-51A0C045EEBD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A314EBA-85A3-B851-1052-55DCA76A87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9F0BDA6D-0FD5-286E-F871-315D080745E9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148EE7-45E4-90FE-D30B-0BE221284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80" y="1045954"/>
            <a:ext cx="9751060" cy="50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6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F1D3-3B27-4321-DA26-E75F000A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6BB2225-963F-AA3C-EF47-8EA16A689DD3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4"/>
                </a:solidFill>
              </a:rPr>
              <a:t>03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dirty="0"/>
              <a:t>Sandra Martínez Peña</a:t>
            </a:r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5BDB5960-9795-53F8-4C96-1400CCEF17D7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5F074D6-208D-9052-E2D1-19CFD876BE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08883779-5501-E22C-95D9-00AEE912F7E0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B4862D-1D5B-879E-83CE-B4D4BA7D4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36" y="1035685"/>
            <a:ext cx="10026447" cy="51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0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D47D-FB1C-7CE5-5B7F-842D3E09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7725B84-E212-5EC4-4D63-4ECAF54E101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2"/>
                </a:solidFill>
              </a:rPr>
              <a:t>04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Jareth L. Mejía Sánchez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0C1390D1-BF42-8D4C-8930-6204BCA40C1C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533DED2-16D6-B540-4D12-376EA00166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0605F5E1-5111-715E-B968-31890CE16714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135205-036C-415D-DE80-158A8CB1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988028"/>
            <a:ext cx="9862820" cy="52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7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D582-C997-A763-7471-9889F184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FAC35BB-AD3F-4075-98B8-C4CBF49516B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5"/>
                </a:solidFill>
              </a:rPr>
              <a:t>05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Jhonatan Roman </a:t>
            </a:r>
            <a:r>
              <a:rPr lang="en-US" sz="2400" b="1" dirty="0" err="1">
                <a:solidFill>
                  <a:schemeClr val="bg1"/>
                </a:solidFill>
              </a:rPr>
              <a:t>Roman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9B57E2B6-DFDE-C315-3715-1BD289B2A93C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0F3A4E8-A57D-977E-F4A2-9D208CDB25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6C566A6F-92B1-3E44-8500-6CCBD1B22F63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0E250B-CC8F-8BA7-FF1B-70FD0CE9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1054219"/>
            <a:ext cx="9715500" cy="508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E815-9F62-55A7-0FF0-4C6CDD87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99FE702-0F62-2673-3F8E-A6D157CD7F90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1"/>
                </a:solidFill>
              </a:rPr>
              <a:t>06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Edel Araiza Villarruel</a:t>
            </a:r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B4F86A49-4DCB-4A42-365F-9B98A890BBC4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D030DFB-6D21-676B-16E1-9A73047B99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2A88C129-493F-29C4-0EFA-E7C847EC5E51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A16851-196A-3C6E-0E19-A00C152D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13" y="1013124"/>
            <a:ext cx="9913294" cy="51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1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8CAD7-56FA-CBCE-130B-B3A844C4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EFF6E53-C6EA-C4E8-7A7A-9C12A2E70E5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2"/>
                </a:solidFill>
              </a:rPr>
              <a:t>07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Roman Solís Dominguez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AFF94570-DC5A-1878-7D28-16E84DE12E3C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28A1811-3A9A-C0E6-8E0D-C8F891D144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1C5C31A5-27CE-CB9D-095D-AFFD9FF52A4E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8B159E-1067-D6C2-7E4F-140BC0346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310" y="925830"/>
            <a:ext cx="9771380" cy="530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2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7466-8FA8-A06F-43A4-180873A8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A6D6A9D-4EA2-F2B2-75BC-59135FF51B0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3"/>
                </a:solidFill>
              </a:rPr>
              <a:t>08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Jorge Axel Arce 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A4330ACA-F0CA-546A-2462-119C3CDECC52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6F7CCBE-B8C5-E7DE-181B-9C67400CDC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FD1D73D1-DFE4-875F-53CF-C03B41FB8811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356559-3EF0-5EED-23A0-EF6B4DDEC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1" y="1130300"/>
            <a:ext cx="9969499" cy="49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3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485B-B627-5A61-00D7-014171ED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87B0F6D-0EB8-1830-FCA4-89AEEEE3B515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accent4"/>
                </a:solidFill>
              </a:rPr>
              <a:t>09</a:t>
            </a:r>
            <a:r>
              <a:rPr lang="en-US" sz="24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Noel Bautista Marquez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E5E704A7-1EE7-C000-D1FD-031908D7DD8E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55BC067-3AB7-C4F2-AFFF-60C156B4D6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FE24C3F0-BE96-9A8A-E5D5-4F512A5A659A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85F902-AF58-5625-B63D-3A04D39DA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80" y="925830"/>
            <a:ext cx="9690100" cy="521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60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F1D4F-A87B-97A1-4890-90157873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690217F-7F6D-9753-33B1-BC94F778B43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4859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accent1"/>
                </a:solidFill>
              </a:rPr>
              <a:t>10   </a:t>
            </a:r>
            <a:r>
              <a:rPr lang="en-US" sz="2400" b="1" dirty="0">
                <a:solidFill>
                  <a:schemeClr val="bg1"/>
                </a:solidFill>
              </a:rPr>
              <a:t>Emiliano </a:t>
            </a:r>
            <a:endParaRPr lang="en-US" sz="2400" dirty="0"/>
          </a:p>
        </p:txBody>
      </p:sp>
      <p:sp>
        <p:nvSpPr>
          <p:cNvPr id="3" name="Marco de la gráfica">
            <a:extLst>
              <a:ext uri="{FF2B5EF4-FFF2-40B4-BE49-F238E27FC236}">
                <a16:creationId xmlns:a16="http://schemas.microsoft.com/office/drawing/2014/main" id="{2413E1A6-B7C0-2D58-CBB5-4EE82E02724C}"/>
              </a:ext>
            </a:extLst>
          </p:cNvPr>
          <p:cNvSpPr/>
          <p:nvPr/>
        </p:nvSpPr>
        <p:spPr>
          <a:xfrm>
            <a:off x="878840" y="822960"/>
            <a:ext cx="10510520" cy="55778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DF1D5FB-6D92-93CB-F867-4B2E153F2A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7" name="Espacio para la gráfica 02">
            <a:extLst>
              <a:ext uri="{FF2B5EF4-FFF2-40B4-BE49-F238E27FC236}">
                <a16:creationId xmlns:a16="http://schemas.microsoft.com/office/drawing/2014/main" id="{029D85B8-6EBF-B325-77EE-C33640C7575B}"/>
              </a:ext>
            </a:extLst>
          </p:cNvPr>
          <p:cNvSpPr/>
          <p:nvPr/>
        </p:nvSpPr>
        <p:spPr>
          <a:xfrm>
            <a:off x="1338580" y="1087120"/>
            <a:ext cx="9591040" cy="5049520"/>
          </a:xfrm>
          <a:prstGeom prst="roundRect">
            <a:avLst>
              <a:gd name="adj" fmla="val 2041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79A834-FCBA-65DD-06A4-C2AF3DE5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80" y="986575"/>
            <a:ext cx="9090756" cy="512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63632"/>
      </p:ext>
    </p:extLst>
  </p:cSld>
  <p:clrMapOvr>
    <a:masterClrMapping/>
  </p:clrMapOvr>
</p:sld>
</file>

<file path=ppt/theme/theme1.xml><?xml version="1.0" encoding="utf-8"?>
<a:theme xmlns:a="http://schemas.openxmlformats.org/drawingml/2006/main" name="Hortensia">
  <a:themeElements>
    <a:clrScheme name="Hortensia">
      <a:dk1>
        <a:srgbClr val="0B0E2E"/>
      </a:dk1>
      <a:lt1>
        <a:srgbClr val="FFFFFF"/>
      </a:lt1>
      <a:dk2>
        <a:srgbClr val="1C1A52"/>
      </a:dk2>
      <a:lt2>
        <a:srgbClr val="F1EEFF"/>
      </a:lt2>
      <a:accent1>
        <a:srgbClr val="58B0FF"/>
      </a:accent1>
      <a:accent2>
        <a:srgbClr val="8E7BFF"/>
      </a:accent2>
      <a:accent3>
        <a:srgbClr val="D58CFF"/>
      </a:accent3>
      <a:accent4>
        <a:srgbClr val="FF6FB8"/>
      </a:accent4>
      <a:accent5>
        <a:srgbClr val="3DE8B4"/>
      </a:accent5>
      <a:accent6>
        <a:srgbClr val="FFF3B8"/>
      </a:accent6>
      <a:hlink>
        <a:srgbClr val="D58CFF"/>
      </a:hlink>
      <a:folHlink>
        <a:srgbClr val="8E7BFF"/>
      </a:folHlink>
    </a:clrScheme>
    <a:fontScheme name="Hortens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507</Words>
  <Application>Microsoft Office PowerPoint</Application>
  <PresentationFormat>Panorámica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Hortensia</vt:lpstr>
      <vt:lpstr>Presentación de PowerPoint</vt:lpstr>
      <vt:lpstr>El ejercicio: un MA(4) simulado</vt:lpstr>
      <vt:lpstr>Participantes</vt:lpstr>
      <vt:lpstr>Participantes</vt:lpstr>
      <vt:lpstr>01   Carlos Raymundo Vargas Cortes</vt:lpstr>
      <vt:lpstr>02   Valeria Servin</vt:lpstr>
      <vt:lpstr>03   Sandra Martínez Peña</vt:lpstr>
      <vt:lpstr>04   Jareth L. Mejía Sánchez</vt:lpstr>
      <vt:lpstr>05   Jhonatan Roman Roman</vt:lpstr>
      <vt:lpstr>06 Edel Araiza Villarruel</vt:lpstr>
      <vt:lpstr>07   Roman Solís Dominguez</vt:lpstr>
      <vt:lpstr>08   Jorge Axel Arce </vt:lpstr>
      <vt:lpstr>09   Noel Bautista Marquez</vt:lpstr>
      <vt:lpstr>10   Emiliano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Galería de gráficas: pronóstico dinámico de un MA(4)</dc:title>
  <dc:subject>Econometría de Series de Tiempo</dc:subject>
  <dc:creator>PptxGenJS</dc:creator>
  <cp:lastModifiedBy>Daniel Ventosa Santaularia</cp:lastModifiedBy>
  <cp:revision>12</cp:revision>
  <dcterms:created xsi:type="dcterms:W3CDTF">2026-10-13T21:07:11Z</dcterms:created>
  <dcterms:modified xsi:type="dcterms:W3CDTF">2026-10-19T17:12:54Z</dcterms:modified>
</cp:coreProperties>
</file>